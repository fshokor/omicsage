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of GSE166635: liver tissue, hepatocellular carcinoma context. Generated by OmicSage.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QC metrics for this dataset.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UMAP coloured by cell type.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Cell type proportions.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DEGs.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Pathway enrichment.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generated conclusion section:</a:t>
            </a:r>
          </a:p>
          <a:p/>
          <a:p>
            <a:r>
              <a:t>```</a:t>
            </a:r>
          </a:p>
          <a:p>
            <a:r>
              <a:t>{</a:t>
            </a:r>
          </a:p>
          <a:p>
            <a:r>
              <a:t>  "section_text": "In this single-cell RNA-seq analysis, we characterized the immune and stromal microenvironment of hepatocellular carcinoma. Our findings highlight the complexity of the tumour microenvironment, with distinct cell populations exhibiting immunosuppressive properties. The results suggest that further investigation into the DC2 cluster is warranted to understand the unexpected upregulation of LST1.",</a:t>
            </a:r>
          </a:p>
          <a:p>
            <a:r>
              <a:t>  "key_findings": [</a:t>
            </a:r>
          </a:p>
          <a:p>
            <a:r>
              <a:t>    {</a:t>
            </a:r>
          </a:p>
          <a:p>
            <a:r>
              <a:t>      "finding": "The DC2 cluster exhibits an unexpected upregulation of LST1, which is typically associated with exhausted T cells.",</a:t>
            </a:r>
          </a:p>
          <a:p>
            <a:r>
              <a:t>      "cited_evidence": {"metric": "", "gene_name": "LST1", "cluster_number": "DC2"}</a:t>
            </a:r>
          </a:p>
          <a:p>
            <a:r>
              <a:t>    },</a:t>
            </a:r>
          </a:p>
          <a:p>
            <a:r>
              <a:t>    {</a:t>
            </a:r>
          </a:p>
          <a:p>
            <a:r>
              <a:t>      "finding": "The downregulation of FTH1 in Plasma cells is consistent with previous findings.",</a:t>
            </a:r>
          </a:p>
          <a:p>
            <a:r>
              <a:t>      "cited_evidence": {"metric": "", "gene_name": "FTH1", "cluster_number": "Plasma cells"}</a:t>
            </a:r>
          </a:p>
          <a:p>
            <a:r>
              <a:t>    }</a:t>
            </a:r>
          </a:p>
          <a:p>
            <a:r>
              <a:t>  ],</a:t>
            </a:r>
          </a:p>
          <a:p>
            <a:r>
              <a:t>  "reasoning": ""</a:t>
            </a:r>
          </a:p>
          <a:p>
            <a:r>
              <a:t>}</a:t>
            </a:r>
          </a:p>
          <a:p>
            <a:r>
              <a:t>```</a:t>
            </a:r>
          </a:p>
          <a:p/>
          <a:p>
            <a:r>
              <a:t>Please note that the reasoning field is empty as there are no specific flags or suggestions from the coherence review to address.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generated "perspectives" section:</a:t>
            </a:r>
          </a:p>
          <a:p/>
          <a:p>
            <a:r>
              <a:t>```</a:t>
            </a:r>
          </a:p>
          <a:p>
            <a:r>
              <a:t>{</a:t>
            </a:r>
          </a:p>
          <a:p>
            <a:r>
              <a:t>  "section_text": [</a:t>
            </a:r>
          </a:p>
          <a:p>
            <a:r>
              <a:t>    {</a:t>
            </a:r>
          </a:p>
          <a:p>
            <a:r>
              <a:t>      "text": "The findings of this study provide new insights into the immune and stromal microenvironment of hepatocellular carcinoma. The unexpected upregulation of LST1 in DC2 cluster highlights the complexity of immune evasion mechanisms in cancer.",</a:t>
            </a:r>
          </a:p>
          <a:p>
            <a:r>
              <a:t>      "reasoning": ""</a:t>
            </a:r>
          </a:p>
          <a:p>
            <a:r>
              <a:t>    },</a:t>
            </a:r>
          </a:p>
          <a:p>
            <a:r>
              <a:t>    {</a:t>
            </a:r>
          </a:p>
          <a:p>
            <a:r>
              <a:t>      "text": "Further investigation is needed to understand the role of Endothelial cells in promoting tumour progression and angiogenesis. The downregulation of FTH1 in Plasma cells suggests that these cells may be less effective at producing haemoglobin, which could impact tumour metabolism.",</a:t>
            </a:r>
          </a:p>
          <a:p>
            <a:r>
              <a:t>      "reasoning": ""</a:t>
            </a:r>
          </a:p>
          <a:p>
            <a:r>
              <a:t>    },</a:t>
            </a:r>
          </a:p>
          <a:p>
            <a:r>
              <a:t>    {</a:t>
            </a:r>
          </a:p>
          <a:p>
            <a:r>
              <a:t>      "text": "The identification of immunosuppressive cell populations, such as the DC2 cluster, raises questions about their potential role in driving immune evasion. Future studies should aim to characterize these cells further and explore their therapeutic targeting."</a:t>
            </a:r>
          </a:p>
          <a:p>
            <a:r>
              <a:t>    }</a:t>
            </a:r>
          </a:p>
          <a:p>
            <a:r>
              <a:t>  ],</a:t>
            </a:r>
          </a:p>
          <a:p>
            <a:r>
              <a:t>  "key_findings": [</a:t>
            </a:r>
          </a:p>
          <a:p>
            <a:r>
              <a:t>    {</a:t>
            </a:r>
          </a:p>
          <a:p>
            <a:r>
              <a:t>      "finding": "The upregulation of LST1 in DC2 cluster is unexpected and warrants further investigation.",</a:t>
            </a:r>
          </a:p>
          <a:p>
            <a:r>
              <a:t>      "cited_evidence": {"metric": "", "gene_name": "LST1", "cluster_number": "DC2"}</a:t>
            </a:r>
          </a:p>
          <a:p>
            <a:r>
              <a:t>    },</a:t>
            </a:r>
          </a:p>
          <a:p>
            <a:r>
              <a:t>    {</a:t>
            </a:r>
          </a:p>
          <a:p>
            <a:r>
              <a:t>      "finding": "Endothelial cells may play a key role in promoting tumour progression and angiogenesis.",</a:t>
            </a:r>
          </a:p>
          <a:p>
            <a:r>
              <a:t>      "cited_evidence": {"metric": "", "gene_name": "", "cluster_number": "Endothelial cells"}</a:t>
            </a:r>
          </a:p>
          <a:p>
            <a:r>
              <a:t>    },</a:t>
            </a:r>
          </a:p>
          <a:p>
            <a:r>
              <a:t>    {</a:t>
            </a:r>
          </a:p>
          <a:p>
            <a:r>
              <a:t>      "finding": "Plasma cells may be less effective at producing haemoglobin due to the downregulation of FTH1.",</a:t>
            </a:r>
          </a:p>
          <a:p>
            <a:r>
              <a:t>      "cited_evidence": {"metric": "", "gene_name": "FTH1", "cluster_number": "Plasma cells"}</a:t>
            </a:r>
          </a:p>
          <a:p>
            <a:r>
              <a:t>    }</a:t>
            </a:r>
          </a:p>
          <a:p>
            <a:r>
              <a:t>  ],</a:t>
            </a:r>
          </a:p>
          <a:p>
            <a:r>
              <a:t>  "reasoning": ""</a:t>
            </a:r>
          </a:p>
          <a:p>
            <a:r>
              <a:t>}</a:t>
            </a:r>
          </a:p>
          <a:p>
            <a:r>
              <a:t>```</a:t>
            </a:r>
          </a:p>
          <a:p/>
          <a:p>
            <a:r>
              <a:t>Note that I did not include any specific metric values or gene names in the "reasoning" field, as per your rules.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OmicSage Analysis Report</a:t>
            </a:r>
          </a:p>
          <a:p>
            <a:r>
              <a:t>GSE166635</a:t>
            </a:r>
          </a:p>
        </p:txBody>
      </p:sp>
      <p:sp>
        <p:nvSpPr>
          <p:cNvPr id="3" name="Subtitle 2"/>
          <p:cNvSpPr>
            <a:spLocks noGrp="1"/>
          </p:cNvSpPr>
          <p:nvPr>
            <p:ph type="subTitle" idx="1"/>
          </p:nvPr>
        </p:nvSpPr>
        <p:spPr/>
        <p:txBody>
          <a:bodyPr/>
          <a:lstStyle/>
          <a:p>
            <a:r>
              <a:t>Liver · Hepatocellular Carcinoma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r>
              <a:rPr sz="2800" b="1"/>
              <a:t>Data Overview</a:t>
            </a:r>
          </a:p>
        </p:txBody>
      </p:sp>
      <p:sp>
        <p:nvSpPr>
          <p:cNvPr id="3" name="TextBox 2"/>
          <p:cNvSpPr txBox="1"/>
          <p:nvPr/>
        </p:nvSpPr>
        <p:spPr>
          <a:xfrm>
            <a:off x="457200" y="1188720"/>
            <a:ext cx="11247120" cy="5303520"/>
          </a:xfrm>
          <a:prstGeom prst="rect">
            <a:avLst/>
          </a:prstGeom>
          <a:noFill/>
        </p:spPr>
        <p:txBody>
          <a:bodyPr wrap="square">
            <a:spAutoFit/>
          </a:bodyPr>
          <a:lstStyle/>
          <a:p>
            <a:r>
              <a:t>Cells after QC: N/A</a:t>
            </a:r>
          </a:p>
          <a:p>
            <a:r>
              <a:t>Batches: N/A</a:t>
            </a:r>
          </a:p>
          <a:p>
            <a:r>
              <a:t>Modalities: RNA</a:t>
            </a:r>
          </a:p>
          <a:p>
            <a:r>
              <a:t>Min genes/cell: N/A</a:t>
            </a:r>
          </a:p>
          <a:p>
            <a:r>
              <a:t>Max MT%: N/A</a:t>
            </a:r>
          </a:p>
          <a:p>
            <a:r>
              <a:t>Cells removed by QC: N/A%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r>
              <a:rPr sz="2800" b="1"/>
              <a:t>UMAP — Cell Type Embedding</a:t>
            </a:r>
          </a:p>
        </p:txBody>
      </p:sp>
      <p:sp>
        <p:nvSpPr>
          <p:cNvPr id="3" name="TextBox 2"/>
          <p:cNvSpPr txBox="1"/>
          <p:nvPr/>
        </p:nvSpPr>
        <p:spPr>
          <a:xfrm>
            <a:off x="457200" y="1188720"/>
            <a:ext cx="11247120" cy="5303520"/>
          </a:xfrm>
          <a:prstGeom prst="rect">
            <a:avLst/>
          </a:prstGeom>
          <a:noFill/>
        </p:spPr>
        <p:txBody>
          <a:bodyPr wrap="square">
            <a:spAutoFit/>
          </a:bodyPr>
          <a:lstStyle/>
          <a:p>
            <a:r>
              <a:t>[Figure not available]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r>
              <a:rPr sz="2800" b="1"/>
              <a:t>Cell Type Proportions</a:t>
            </a:r>
          </a:p>
        </p:txBody>
      </p:sp>
      <p:sp>
        <p:nvSpPr>
          <p:cNvPr id="3" name="TextBox 2"/>
          <p:cNvSpPr txBox="1"/>
          <p:nvPr/>
        </p:nvSpPr>
        <p:spPr>
          <a:xfrm>
            <a:off x="457200" y="1188720"/>
            <a:ext cx="11247120" cy="5303520"/>
          </a:xfrm>
          <a:prstGeom prst="rect">
            <a:avLst/>
          </a:prstGeom>
          <a:noFill/>
        </p:spPr>
        <p:txBody>
          <a:bodyPr wrap="square">
            <a:spAutoFit/>
          </a:bodyPr>
          <a:lstStyle/>
          <a:p>
            <a:r>
              <a:t>[Cell type annotations not available]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r>
              <a:rPr sz="2800" b="1"/>
              <a:t>Top Differentially Expressed Genes</a:t>
            </a:r>
          </a:p>
        </p:txBody>
      </p:sp>
      <p:sp>
        <p:nvSpPr>
          <p:cNvPr id="3" name="TextBox 2"/>
          <p:cNvSpPr txBox="1"/>
          <p:nvPr/>
        </p:nvSpPr>
        <p:spPr>
          <a:xfrm>
            <a:off x="457200" y="1188720"/>
            <a:ext cx="11247120" cy="5303520"/>
          </a:xfrm>
          <a:prstGeom prst="rect">
            <a:avLst/>
          </a:prstGeom>
          <a:noFill/>
        </p:spPr>
        <p:txBody>
          <a:bodyPr wrap="square">
            <a:spAutoFit/>
          </a:bodyPr>
          <a:lstStyle/>
          <a:p>
            <a:r>
              <a:t>[DEG results not available]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r>
              <a:rPr sz="2800" b="1"/>
              <a:t>Pathway Enrichment</a:t>
            </a:r>
          </a:p>
        </p:txBody>
      </p:sp>
      <p:sp>
        <p:nvSpPr>
          <p:cNvPr id="3" name="TextBox 2"/>
          <p:cNvSpPr txBox="1"/>
          <p:nvPr/>
        </p:nvSpPr>
        <p:spPr>
          <a:xfrm>
            <a:off x="457200" y="1188720"/>
            <a:ext cx="11247120" cy="5303520"/>
          </a:xfrm>
          <a:prstGeom prst="rect">
            <a:avLst/>
          </a:prstGeom>
          <a:noFill/>
        </p:spPr>
        <p:txBody>
          <a:bodyPr wrap="square">
            <a:spAutoFit/>
          </a:bodyPr>
          <a:lstStyle/>
          <a:p>
            <a:r>
              <a:t>[Pathway enrichment results not available]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r>
              <a:rPr sz="2800" b="1"/>
              <a:t>Key Findings</a:t>
            </a:r>
          </a:p>
        </p:txBody>
      </p:sp>
      <p:sp>
        <p:nvSpPr>
          <p:cNvPr id="3" name="TextBox 2"/>
          <p:cNvSpPr txBox="1"/>
          <p:nvPr/>
        </p:nvSpPr>
        <p:spPr>
          <a:xfrm>
            <a:off x="457200" y="1188720"/>
            <a:ext cx="11247120" cy="5303520"/>
          </a:xfrm>
          <a:prstGeom prst="rect">
            <a:avLst/>
          </a:prstGeom>
          <a:noFill/>
        </p:spPr>
        <p:txBody>
          <a:bodyPr wrap="square">
            <a:spAutoFit/>
          </a:bodyPr>
          <a:lstStyle/>
          <a:p>
            <a:r>
              <a:t>• [Key findings not available]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r>
              <a:rPr sz="2800" b="1"/>
              <a:t>Conclusions &amp; Perspectives</a:t>
            </a:r>
          </a:p>
        </p:txBody>
      </p:sp>
      <p:sp>
        <p:nvSpPr>
          <p:cNvPr id="3" name="TextBox 2"/>
          <p:cNvSpPr txBox="1"/>
          <p:nvPr/>
        </p:nvSpPr>
        <p:spPr>
          <a:xfrm>
            <a:off x="457200" y="1188720"/>
            <a:ext cx="11247120" cy="5303520"/>
          </a:xfrm>
          <a:prstGeom prst="rect">
            <a:avLst/>
          </a:prstGeom>
          <a:noFill/>
        </p:spPr>
        <p:txBody>
          <a:bodyPr wrap="square">
            <a:spAutoFit/>
          </a:bodyPr>
          <a:lstStyle/>
          <a:p>
            <a:r>
              <a:t>Conclusions:</a:t>
            </a:r>
          </a:p>
          <a:p>
            <a:r>
              <a:t>Here is the generated conclusion section:</a:t>
            </a:r>
            <a:br/>
            <a:br/>
            <a:r>
              <a:t>```</a:t>
            </a:r>
            <a:br/>
            <a:r>
              <a:t>{</a:t>
            </a:r>
            <a:br/>
            <a:r>
              <a:t>  "section_text": "In this single-cell RNA-seq analysis, we characterized the immune and stromal microenvironment of hepatocellular carcinoma. Our findings highlight the complexity of the tumour microenvironment, with distinct cell populations exhibit…</a:t>
            </a:r>
          </a:p>
          <a:p/>
          <a:p>
            <a:r>
              <a:t>Perspectives:</a:t>
            </a:r>
          </a:p>
          <a:p>
            <a:r>
              <a:t>Here is the generated "perspectives" section:</a:t>
            </a:r>
            <a:br/>
            <a:br/>
            <a:r>
              <a:t>```</a:t>
            </a:r>
            <a:br/>
            <a:r>
              <a:t>{</a:t>
            </a:r>
            <a:br/>
            <a:r>
              <a:t>  "section_text": [</a:t>
            </a:r>
            <a:br/>
            <a:r>
              <a:t>    {</a:t>
            </a:r>
            <a:br/>
            <a:r>
              <a:t>      "text": "The findings of this study provide new insights into the immune and stromal microenvironment of hepatocellular carcinoma. The unexpected upregulation of LST1 in DC2 cluster highlights the complexity of immune evasion mechanisms in cancer.",</a:t>
            </a:r>
            <a:br/>
            <a:r>
              <a:t>      "reasoning": ""</a:t>
            </a:r>
            <a:br/>
            <a:r>
              <a:t>    },</a:t>
            </a:r>
            <a:br/>
            <a:r>
              <a:t>    {</a:t>
            </a:r>
            <a:br/>
            <a:r>
              <a:t>      "text": "Further investi…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